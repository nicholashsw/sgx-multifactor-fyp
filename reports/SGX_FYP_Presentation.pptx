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IC t-statistic</c:v>
                </c:pt>
              </c:strCache>
            </c:strRef>
          </c:tx>
          <c:spPr>
            <a:solidFill>
              <a:srgbClr val="0B7B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7B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7B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7B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A83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A83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B/M</c:v>
                  </c:pt>
                  <c:pt idx="1">
                    <c:v>Inv PE</c:v>
                  </c:pt>
                  <c:pt idx="2">
                    <c:v>Div Yield</c:v>
                  </c:pt>
                  <c:pt idx="3">
                    <c:v>Mom 12-1</c:v>
                  </c:pt>
                  <c:pt idx="4">
                    <c:v>Size</c:v>
                  </c:pt>
                  <c:pt idx="5">
                    <c:v>Amihud</c:v>
                  </c:pt>
                  <c:pt idx="6">
                    <c:v>Mom 6-1</c:v>
                  </c:pt>
                  <c:pt idx="7">
                    <c:v>ROE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3.141</c:v>
                </c:pt>
                <c:pt idx="1">
                  <c:v>3.046</c:v>
                </c:pt>
                <c:pt idx="2">
                  <c:v>2.805</c:v>
                </c:pt>
                <c:pt idx="3">
                  <c:v>1.724</c:v>
                </c:pt>
                <c:pt idx="4">
                  <c:v>1.598</c:v>
                </c:pt>
                <c:pt idx="5">
                  <c:v>1.337</c:v>
                </c:pt>
                <c:pt idx="6">
                  <c:v>0.917</c:v>
                </c:pt>
                <c:pt idx="7">
                  <c:v>0.342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Strategy</c:v>
                </c:pt>
              </c:strCache>
            </c:strRef>
          </c:tx>
          <c:spPr>
            <a:solidFill>
              <a:srgbClr val="0B7B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Sheet1!$A$2:$A$20</c:f>
              <c:multiLvlStrCache>
                <c:ptCount val="19"/>
                <c:lvl>
                  <c:pt idx="0">
                    <c:v>2007</c:v>
                  </c:pt>
                  <c:pt idx="1">
                    <c:v>2008</c:v>
                  </c:pt>
                  <c:pt idx="2">
                    <c:v>2009</c:v>
                  </c:pt>
                  <c:pt idx="3">
                    <c:v>2010</c:v>
                  </c:pt>
                  <c:pt idx="4">
                    <c:v>2011</c:v>
                  </c:pt>
                  <c:pt idx="5">
                    <c:v>2012</c:v>
                  </c:pt>
                  <c:pt idx="6">
                    <c:v>2013</c:v>
                  </c:pt>
                  <c:pt idx="7">
                    <c:v>2014</c:v>
                  </c:pt>
                  <c:pt idx="8">
                    <c:v>2015</c:v>
                  </c:pt>
                  <c:pt idx="9">
                    <c:v>2016</c:v>
                  </c:pt>
                  <c:pt idx="10">
                    <c:v>2017</c:v>
                  </c:pt>
                  <c:pt idx="11">
                    <c:v>2018</c:v>
                  </c:pt>
                  <c:pt idx="12">
                    <c:v>2019</c:v>
                  </c:pt>
                  <c:pt idx="13">
                    <c:v>2020</c:v>
                  </c:pt>
                  <c:pt idx="14">
                    <c:v>2021</c:v>
                  </c:pt>
                  <c:pt idx="15">
                    <c:v>2022</c:v>
                  </c:pt>
                  <c:pt idx="16">
                    <c:v>2023</c:v>
                  </c:pt>
                  <c:pt idx="17">
                    <c:v>2024</c:v>
                  </c:pt>
                  <c:pt idx="18">
                    <c:v>2025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-8.8</c:v>
                </c:pt>
                <c:pt idx="1">
                  <c:v>-53.3</c:v>
                </c:pt>
                <c:pt idx="2">
                  <c:v>134.3</c:v>
                </c:pt>
                <c:pt idx="3">
                  <c:v>15.5</c:v>
                </c:pt>
                <c:pt idx="4">
                  <c:v>-12.1</c:v>
                </c:pt>
                <c:pt idx="5">
                  <c:v>38.5</c:v>
                </c:pt>
                <c:pt idx="6">
                  <c:v>0.8</c:v>
                </c:pt>
                <c:pt idx="7">
                  <c:v>13.5</c:v>
                </c:pt>
                <c:pt idx="8">
                  <c:v>-4</c:v>
                </c:pt>
                <c:pt idx="9">
                  <c:v>9.5</c:v>
                </c:pt>
                <c:pt idx="10">
                  <c:v>32.2</c:v>
                </c:pt>
                <c:pt idx="11">
                  <c:v>-3.1</c:v>
                </c:pt>
                <c:pt idx="12">
                  <c:v>22.5</c:v>
                </c:pt>
                <c:pt idx="13">
                  <c:v>7.8</c:v>
                </c:pt>
                <c:pt idx="14">
                  <c:v>11</c:v>
                </c:pt>
                <c:pt idx="15">
                  <c:v>32.7</c:v>
                </c:pt>
                <c:pt idx="16">
                  <c:v>11.2</c:v>
                </c:pt>
                <c:pt idx="17">
                  <c:v>-2.9</c:v>
                </c:pt>
                <c:pt idx="18">
                  <c:v>23.9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STI Index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Sheet1!$A$2:$A$20</c:f>
              <c:multiLvlStrCache>
                <c:ptCount val="19"/>
                <c:lvl>
                  <c:pt idx="0">
                    <c:v>2007</c:v>
                  </c:pt>
                  <c:pt idx="1">
                    <c:v>2008</c:v>
                  </c:pt>
                  <c:pt idx="2">
                    <c:v>2009</c:v>
                  </c:pt>
                  <c:pt idx="3">
                    <c:v>2010</c:v>
                  </c:pt>
                  <c:pt idx="4">
                    <c:v>2011</c:v>
                  </c:pt>
                  <c:pt idx="5">
                    <c:v>2012</c:v>
                  </c:pt>
                  <c:pt idx="6">
                    <c:v>2013</c:v>
                  </c:pt>
                  <c:pt idx="7">
                    <c:v>2014</c:v>
                  </c:pt>
                  <c:pt idx="8">
                    <c:v>2015</c:v>
                  </c:pt>
                  <c:pt idx="9">
                    <c:v>2016</c:v>
                  </c:pt>
                  <c:pt idx="10">
                    <c:v>2017</c:v>
                  </c:pt>
                  <c:pt idx="11">
                    <c:v>2018</c:v>
                  </c:pt>
                  <c:pt idx="12">
                    <c:v>2019</c:v>
                  </c:pt>
                  <c:pt idx="13">
                    <c:v>2020</c:v>
                  </c:pt>
                  <c:pt idx="14">
                    <c:v>2021</c:v>
                  </c:pt>
                  <c:pt idx="15">
                    <c:v>2022</c:v>
                  </c:pt>
                  <c:pt idx="16">
                    <c:v>2023</c:v>
                  </c:pt>
                  <c:pt idx="17">
                    <c:v>2024</c:v>
                  </c:pt>
                  <c:pt idx="18">
                    <c:v>2025</c:v>
                  </c:pt>
                </c:lvl>
              </c:multiLvlStrCache>
            </c:multiLvl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18.7</c:v>
                </c:pt>
                <c:pt idx="1">
                  <c:v>-49.2</c:v>
                </c:pt>
                <c:pt idx="2">
                  <c:v>64.5</c:v>
                </c:pt>
                <c:pt idx="3">
                  <c:v>10.1</c:v>
                </c:pt>
                <c:pt idx="4">
                  <c:v>-17</c:v>
                </c:pt>
                <c:pt idx="5">
                  <c:v>19.7</c:v>
                </c:pt>
                <c:pt idx="6">
                  <c:v>0</c:v>
                </c:pt>
                <c:pt idx="7">
                  <c:v>6.2</c:v>
                </c:pt>
                <c:pt idx="8">
                  <c:v>-14.3</c:v>
                </c:pt>
                <c:pt idx="9">
                  <c:v>-0.1</c:v>
                </c:pt>
                <c:pt idx="10">
                  <c:v>18.1</c:v>
                </c:pt>
                <c:pt idx="11">
                  <c:v>-9.8</c:v>
                </c:pt>
                <c:pt idx="12">
                  <c:v>5</c:v>
                </c:pt>
                <c:pt idx="13">
                  <c:v>-11.8</c:v>
                </c:pt>
                <c:pt idx="14">
                  <c:v>9.8</c:v>
                </c:pt>
                <c:pt idx="15">
                  <c:v>4.1</c:v>
                </c:pt>
                <c:pt idx="16">
                  <c:v>-0.3</c:v>
                </c:pt>
                <c:pt idx="17">
                  <c:v>16.9</c:v>
                </c:pt>
                <c:pt idx="18">
                  <c:v>22.7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Ann. Return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83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T1 (Bottom)</c:v>
                  </c:pt>
                  <c:pt idx="1">
                    <c:v>T2 (Middle)</c:v>
                  </c:pt>
                  <c:pt idx="2">
                    <c:v>T3 (Top)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2.93</c:v>
                </c:pt>
                <c:pt idx="1">
                  <c:v>5.59</c:v>
                </c:pt>
                <c:pt idx="2">
                  <c:v>7.47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 Ratio</c:v>
                </c:pt>
              </c:strCache>
            </c:strRef>
          </c:tx>
          <c:spPr>
            <a:solidFill>
              <a:srgbClr val="0B7B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7B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A3B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7B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A83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Risk-Off
(VIX&gt;20, SPX↓)</c:v>
                  </c:pt>
                  <c:pt idx="1">
                    <c:v>Risk-On
(VIX&lt;20, SPX↑)</c:v>
                  </c:pt>
                  <c:pt idx="2">
                    <c:v>SG PMI&lt;50
(contraction)</c:v>
                  </c:pt>
                  <c:pt idx="3">
                    <c:v>SG PMI≥50
(expansion)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0.712</c:v>
                </c:pt>
                <c:pt idx="1">
                  <c:v>0.302</c:v>
                </c:pt>
                <c:pt idx="2">
                  <c:v>0.465</c:v>
                </c:pt>
                <c:pt idx="3">
                  <c:v>0.563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217920"/>
            <a:ext cx="1216152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SGX Multi-Factor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Trading Strategy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5029200" cy="36576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NTU EEE Final Year Project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cross-sectional factor model targeting SGX equities using Bloomberg data,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regime conditioning, and systematic portfolio construction.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389120"/>
            <a:ext cx="256032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 Stocks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4389120"/>
            <a:ext cx="256032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2001–2026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91840" y="4754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Window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4389120"/>
            <a:ext cx="256032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Factors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26480" y="4754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IC-Weighted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61120" y="4389120"/>
            <a:ext cx="256032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7.83%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961120" y="4754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Alpha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2910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Bloomberg Terminal  |  Methodology: Fama-French multi-factor  |  Analysis: Python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walkthrough of methodology, implementation and results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54864" cy="86868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33502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133502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Motivation &amp; SGX Market Context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17556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SGX? Why multi-factor? Literature grounding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304288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04288"/>
            <a:ext cx="54864" cy="86868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3591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6112" y="23591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 &amp; Bloomberg Extraction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112" y="277977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Universe, fields, xlsm pipeline, VBA automation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328416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28416"/>
            <a:ext cx="54864" cy="86868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3832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6112" y="33832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Library &amp; Construction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6112" y="38039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signals: momentum, value, quality, liquidity, size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352544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352544"/>
            <a:ext cx="54864" cy="86868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44074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6112" y="44074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IC Analysis — Real Results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6112" y="48280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Coefficient, t-statistics, signal quality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5376672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5376672"/>
            <a:ext cx="54864" cy="86868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543153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6112" y="543153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Construction &amp; Backtesting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96112" y="5852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scoring, quintile ranking, TC model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09360" y="1280160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1280160"/>
            <a:ext cx="54864" cy="86868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19088" y="133502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39712" y="133502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Results &amp; Performance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39712" y="17556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11.3% ann return, Sharpe 0.52, 7.83% alpha vs STI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09360" y="2304288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09360" y="2304288"/>
            <a:ext cx="54864" cy="86868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23591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39712" y="23591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Conditioning Analysis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39712" y="277977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VIX, SG PMI, SORA — how macro changes factor returns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09360" y="3328416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09360" y="3328416"/>
            <a:ext cx="54864" cy="86868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19088" y="33832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39712" y="33832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39712" y="38039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pipeline.py → factor_model.py → backtest.py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09360" y="4352544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309360" y="4352544"/>
            <a:ext cx="54864" cy="86868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19088" y="44074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39712" y="44074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839712" y="48280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 size, CapIQ enhancement, sector neutralisation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309360" y="5376672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309360" y="5376672"/>
            <a:ext cx="54864" cy="86868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19088" y="543153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839712" y="543153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839712" y="5852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academic contribution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Motivation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SGX? Why systematic multi-factor?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1828800" cy="27432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2529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MOTIVATION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SGX?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0352" y="2258568"/>
            <a:ext cx="201168" cy="201168"/>
          </a:xfrm>
          <a:prstGeom prst="ellipse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2402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studies: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5146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academic studies on SGX vs US/EU markets — more opportunity for novel findings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" y="3008376"/>
            <a:ext cx="201168" cy="201168"/>
          </a:xfrm>
          <a:prstGeom prst="ellipse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900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inefficiency: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26440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capitalisation and lower analyst coverage → higher potential factor premia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" y="3758184"/>
            <a:ext cx="201168" cy="201168"/>
          </a:xfrm>
          <a:prstGeom prst="ellipse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398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 gateway: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01421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SGX is SE Asia's most liquid market, gateway to regional growth themes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" y="4507992"/>
            <a:ext cx="201168" cy="201168"/>
          </a:xfrm>
          <a:prstGeom prst="ellipse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4897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dividend culture: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476402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SGX stocks structurally high-yield — dividend factor particularly powerful here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0352" y="5257800"/>
            <a:ext cx="201168" cy="201168"/>
          </a:xfrm>
          <a:prstGeom prst="ellipse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2395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REIT dominance: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55138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REITs = 30%+ of STI — value and income factors should differ from US patterns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1600200"/>
            <a:ext cx="56692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9360" y="1737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Grounding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21214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Fama &amp; French (1993):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235440" y="21214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Three-factor model — market, size, value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09360" y="2432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Carhart (1997):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235440" y="24323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Four-factor model — adds momentum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9360" y="2743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Jegadeesh &amp; Titman (1993):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235440" y="27432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 momentum in US equities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09360" y="30540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Amihud (2002):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235440" y="30540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Illiquidity premium — small markets especially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09360" y="33649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 et al. (2020):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235440" y="3364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premia in ASEAN equities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26480" y="3977640"/>
            <a:ext cx="5669280" cy="2468880"/>
          </a:xfrm>
          <a:prstGeom prst="rect">
            <a:avLst/>
          </a:prstGeom>
          <a:solidFill>
            <a:srgbClr val="0D1B2A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09360" y="4114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09360" y="452628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systematic, rules-based multi-factor equity strategy targeting SGX stocks. Construct factor signals from Bloomberg data, rank stocks cross-sectionally, form a monthly-rebalanced portfolio, and evaluate risk-adjusted performance versus the STI benchmark — with macro regime conditioning as a key extension.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xlsm → Python pipeline → factor model → backtest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1828800" cy="27432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2529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DATA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2103120" cy="320040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1737360" cy="0"/>
          </a:xfrm>
          <a:prstGeom prst="line">
            <a:avLst/>
          </a:prstGeom>
          <a:noFill/>
          <a:ln w="12700">
            <a:solidFill>
              <a:srgbClr val="0B7B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423160"/>
            <a:ext cx="1920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STI tickers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price/return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 cap, P/B, DivYld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PE, ROE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23160" y="260604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651760" y="1600200"/>
            <a:ext cx="2103120" cy="3200400"/>
          </a:xfrm>
          <a:prstGeom prst="rect">
            <a:avLst/>
          </a:prstGeom>
          <a:solidFill>
            <a:srgbClr val="1B3A5C"/>
          </a:solidFill>
          <a:ln w="12700">
            <a:solidFill>
              <a:srgbClr val="0B7B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34640" y="2331720"/>
            <a:ext cx="1737360" cy="0"/>
          </a:xfrm>
          <a:prstGeom prst="line">
            <a:avLst/>
          </a:prstGeom>
          <a:noFill/>
          <a:ln w="12700">
            <a:solidFill>
              <a:srgbClr val="0B7B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2423160"/>
            <a:ext cx="1920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SG series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Global series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SORA, PMI, CPI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SGS yields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60604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83480" y="1600200"/>
            <a:ext cx="210312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B7B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7492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pipeline.py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166360" y="2331720"/>
            <a:ext cx="1737360" cy="0"/>
          </a:xfrm>
          <a:prstGeom prst="line">
            <a:avLst/>
          </a:prstGeom>
          <a:noFill/>
          <a:ln w="12700">
            <a:solidFill>
              <a:srgbClr val="0B7B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423160"/>
            <a:ext cx="1920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xlsm directly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quarterly→monthly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factor signals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all dates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86600" y="260604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315200" y="1600200"/>
            <a:ext cx="2103120" cy="3200400"/>
          </a:xfrm>
          <a:prstGeom prst="rect">
            <a:avLst/>
          </a:prstGeom>
          <a:solidFill>
            <a:srgbClr val="1B3A5C"/>
          </a:solidFill>
          <a:ln w="12700">
            <a:solidFill>
              <a:srgbClr val="0B7B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0664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factor_model.py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498080" y="2331720"/>
            <a:ext cx="1737360" cy="0"/>
          </a:xfrm>
          <a:prstGeom prst="line">
            <a:avLst/>
          </a:prstGeom>
          <a:noFill/>
          <a:ln w="12700">
            <a:solidFill>
              <a:srgbClr val="0B7B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2423160"/>
            <a:ext cx="1920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z-score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analysis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IC-weighted composite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 return calc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418320" y="260604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646920" y="1600200"/>
            <a:ext cx="2103120" cy="3200400"/>
          </a:xfrm>
          <a:prstGeom prst="rect">
            <a:avLst/>
          </a:prstGeom>
          <a:solidFill>
            <a:srgbClr val="0B3D47"/>
          </a:solidFill>
          <a:ln w="12700">
            <a:solidFill>
              <a:srgbClr val="0B7B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73836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backtest.py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829800" y="2331720"/>
            <a:ext cx="1737360" cy="0"/>
          </a:xfrm>
          <a:prstGeom prst="line">
            <a:avLst/>
          </a:prstGeom>
          <a:noFill/>
          <a:ln w="12700">
            <a:solidFill>
              <a:srgbClr val="0B7B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38360" y="2423160"/>
            <a:ext cx="1920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Quintile ranking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 portfolio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20bp TC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conditioning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5029200"/>
            <a:ext cx="11521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Coverage Summary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" y="5422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783080" y="5422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23560" y="54223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12280" y="54223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01000" y="54223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1480" y="56327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BDH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783080" y="56327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PX_LAST, TOT_RETURN, MKT_CAP, P/B, DivYld, Volume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623560" y="56327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12280" y="56327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2001–2026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001000" y="56327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tickers, ragged starts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11480" y="58430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BDH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783080" y="58430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PE_RATIO, ROE, P/B (quarterly)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623560" y="5843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812280" y="5843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2001–2026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001000" y="58430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tickers, ~20% NaN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11480" y="6053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CEIC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783080" y="60533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IPI, PMI, CPI, SORA, SGS 2Y/10Y, M2, NEER, NODX...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623560" y="60533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12280" y="60533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2001–2026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001000" y="60533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SG + 11 global series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11480" y="62636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783080" y="62636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SPX, VIX, DXY, FDTR, SPY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623560" y="6263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Daily→Monthly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812280" y="6263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2001–2026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001000" y="62636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post-2005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Library — 8 Signals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ranking signals constructed from Bloomberg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1828800" cy="27432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2529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FACTORS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536192"/>
            <a:ext cx="278892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36192"/>
            <a:ext cx="2788920" cy="384048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56362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93192" y="173736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IC: 0.032  t: 1.72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93192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12-1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24140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7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TOT_RETURN[t-12→t-1] / TOT_RETURN[t-13→t-1]  – 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93192" y="2724912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momentum persists 3-12 months (Jegadeesh &amp; Titman). Uses total return to include dividends.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64408" y="1536192"/>
            <a:ext cx="278892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64408" y="1536192"/>
            <a:ext cx="2788920" cy="384048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56362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37560" y="173736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IC: 0.017  t: 0.92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3756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6-1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24140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7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TOT_RETURN[t-6→t-1] / TOT_RETURN[t-7→t-1]  – 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37560" y="2724912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Shorter-horizon momentum. Lower IC than 12-1 on SGX — medium-term effect weaker.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08776" y="1536192"/>
            <a:ext cx="278892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08776" y="1536192"/>
            <a:ext cx="2788920" cy="384048"/>
          </a:xfrm>
          <a:prstGeom prst="rect">
            <a:avLst/>
          </a:prstGeom>
          <a:solidFill>
            <a:srgbClr val="E8A830"/>
          </a:solidFill>
          <a:ln w="12700">
            <a:solidFill>
              <a:srgbClr val="E8A8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81928" y="156362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81928" y="173736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IC: 0.047  t: 3.14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81928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Book-to-Market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81928" y="24140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7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PX_TO_BOOK  (high B/M = cheap)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81928" y="2724912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Fama-French value factor. Strong in SGX — banks and REITs trade below book at times.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153144" y="1536192"/>
            <a:ext cx="278892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53144" y="1536192"/>
            <a:ext cx="2788920" cy="384048"/>
          </a:xfrm>
          <a:prstGeom prst="rect">
            <a:avLst/>
          </a:prstGeom>
          <a:solidFill>
            <a:srgbClr val="E8A830"/>
          </a:solidFill>
          <a:ln w="12700">
            <a:solidFill>
              <a:srgbClr val="E8A8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26296" y="156362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/ INCOME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226296" y="173736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IC: 0.040  t: 2.81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226296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226296" y="24140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7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EQY_DVD_YLD_IND  (indicated forward yield)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226296" y="2724912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SGX is structurally high-yield. Strongest factor by t-stat (2.81). Income stocks outperform.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114800"/>
            <a:ext cx="278892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114800"/>
            <a:ext cx="2788920" cy="384048"/>
          </a:xfrm>
          <a:prstGeom prst="rect">
            <a:avLst/>
          </a:prstGeom>
          <a:solidFill>
            <a:srgbClr val="E8A830"/>
          </a:solidFill>
          <a:ln w="12700">
            <a:solidFill>
              <a:srgbClr val="E8A8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" y="414223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93192" y="431596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IC: 0.048  t: 3.05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93192" y="45902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Inv. PE Ratio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93192" y="49926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7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–PE_RATIO  (low PE = high score = cheap earnings)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93192" y="5303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yield factor. t=3.05. Flipped to positive direction: low PE stocks score higher.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64408" y="4114800"/>
            <a:ext cx="278892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64408" y="4114800"/>
            <a:ext cx="2788920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37560" y="414223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337560" y="431596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IC: 0.005  t: 0.34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337560" y="45902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337560" y="49926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7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RETURN_COM_EQY  (quarterly, fwd-filled to monthly)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337560" y="5303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factor — high ROE firms earn excess returns. Weaker signal here (t=0.34); retain at low weight.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08776" y="4114800"/>
            <a:ext cx="278892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08776" y="4114800"/>
            <a:ext cx="278892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81928" y="414223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281928" y="431596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IC: 0.024  t: 1.60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281928" y="45902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(Small)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281928" y="49926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7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log(MKT_CAP)  (smaller = higher score)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281928" y="5303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Small-cap premium. t=1.60. Inverse of log market cap so smaller firms rank higher.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153144" y="4114800"/>
            <a:ext cx="278892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153144" y="4114800"/>
            <a:ext cx="278892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226296" y="414223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9226296" y="431596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IC: 0.020  t: 1.34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9226296" y="45902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Amihud Illiq.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9226296" y="49926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7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|Return| / Volume × 10⁶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9226296" y="5303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Illiquidity premium (Amihud 2002). Less liquid stocks earn higher returns. t=1.34, included.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Construction — Key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pipeline.py  →  factor_model.py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1828800" cy="27432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2529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CODE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5577840" cy="2468880"/>
          </a:xfrm>
          <a:prstGeom prst="rect">
            <a:avLst/>
          </a:prstGeom>
          <a:solidFill>
            <a:srgbClr val="0D1B2A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508760"/>
            <a:ext cx="5577840" cy="2011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2704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pipeline.py — xlsm extraction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728216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pipeline.py — extract real Bloomberg data from xlsm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read_block(ws, block_start_col, metric_name, stride=3,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data_start=4, max_rows=310, max_tickers=30):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t_idx in range(max_tickers):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date_col = block_start_col + t_idx * stride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ticker = ws.cell(row=2, column=date_col).value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ticker or 'SP Equity' not in str(ticker): break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r in range(data_start, data_start + max_rows):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 = ws.cell(row=r, column=date_col).value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 = ws.cell(row=r, column=val_col).value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Handle Bloomberg #N/A N/A strings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 = np.nan if isinstance(v,str) and '#' in v else float(v)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Merge quarterly fundamentals → monthly using merge_asof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 = pd.merge_asof(monthly_price, quarterly_fund,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on='Date', direction='backward')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508760"/>
            <a:ext cx="5760720" cy="2468880"/>
          </a:xfrm>
          <a:prstGeom prst="rect">
            <a:avLst/>
          </a:prstGeom>
          <a:solidFill>
            <a:srgbClr val="0D1B2A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508760"/>
            <a:ext cx="5760720" cy="2011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527048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factor_model.py — z-scoring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26480" y="1728216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factor_model.py — cross-sectional z-scoring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cs_zscore(s: pd.Series) -&gt; pd.Series: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mu, sig = s.mean(), s.std()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(s - mu) / sig if sig &gt; 1e-9 else s * 0.0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winsorise(s, lo=0.05, hi=0.95):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s.clip(s.quantile(lo), s.quantile(hi))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Apply per date-group (cross-sectional, not time-series)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col, direction in FACTORS.items():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 = panel.groupby('Date')[col].transform(winsorise)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panel[f'Z_{col}'] = direction *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panel.groupby('Date')[raw.name].transform(cs_zscore)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4160520"/>
            <a:ext cx="5577840" cy="2377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4160520"/>
            <a:ext cx="5577840" cy="2011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17880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Composite construction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4379976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IC-weighted composite construction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Weights proportional to IC t-stat (only positive-IC factors)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positive_factors = ic_df[ic_df['t_stat'] &gt; 0]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weights_raw = positive_factors['t_stat'].clip(lower=0)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weights_norm = weights_raw / weights_raw.sum()  # normalise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panel['Composite_IC'] = sum(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 * panel[f]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f, w in weights_norm.items()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f in panel.columns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Result: Composite IC t-stat = 3.70  (vs 0.84 equal-weight)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0" y="4160520"/>
            <a:ext cx="5760720" cy="2377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4160520"/>
            <a:ext cx="5760720" cy="2011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4178808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 computation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26480" y="4379976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Information Coefficient (Spearman rank correlation)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Measures factor's predictive power for next month's return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compute_ic(panel, factor_col, fwd_col='Fwd_Return_1M'):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ic_series = []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date, grp in panel.groupby('Date'):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sub = grp[[factor_col, fwd_col]].dropna()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len(sub) &lt; 5: continue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ic, _ = stats.spearmanr(sub[factor_col], sub[fwd_col])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ic_series.append(ic)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ic_arr = np.array(ic_series)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t_stat = ic_arr.mean() / (ic_arr.std()/np.sqrt(len(ic_arr)))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ic_arr.mean(), t_stat  # t &gt; 1.96 = significant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Analysis — Real Bloomberg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Coefficient: rank-correlation of factor score vs next-month return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1828800" cy="27432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2529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IC ANALYSIS</a:t>
            </a:r>
            <a:endParaRPr lang="en-US" sz="8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508760"/>
          <a:ext cx="68580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2788920" y="1508760"/>
            <a:ext cx="0" cy="3749040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2816352" y="2011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1.96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(p=5%)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60920" y="1508760"/>
            <a:ext cx="448056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543800" y="16459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452360" y="2121408"/>
            <a:ext cx="54864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71232" y="2121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dominates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571232" y="24048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B/M (t=3.14), Inv PE (t=3.05) and Div Yield (t=2.81) are statistically significant at p&lt;5%. SGX is a value market.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452360" y="2990088"/>
            <a:ext cx="54864" cy="685800"/>
          </a:xfrm>
          <a:prstGeom prst="rect">
            <a:avLst/>
          </a:prstGeom>
          <a:solidFill>
            <a:srgbClr val="E8A830"/>
          </a:solidFill>
          <a:ln w="12700">
            <a:solidFill>
              <a:srgbClr val="E8A83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71232" y="29900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exists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571232" y="32735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 momentum is borderline (t=1.72). Medium-term persistence is weaker in SGX than US — liquidity and analyst coverage effects.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452360" y="3858768"/>
            <a:ext cx="54864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71232" y="38587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ambiguous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571232" y="41422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has positive IC (0.005) but t=0.34 — not significant. Quality signal needs CapIQ data (FCF yield, ROIC) to sharpen.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452360" y="4727448"/>
            <a:ext cx="54864" cy="68580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71232" y="47274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wins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571232" y="50109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IC-weighted composite scores t=3.70 — higher than any individual factor. Diversification of signals reduces noise.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452360" y="5596128"/>
            <a:ext cx="54864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71232" y="55961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factors positive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571232" y="58795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synthetic data (3 negative-IC factors), all 8 real factors have positive IC. Composite inclusion is justified.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20040" y="5349240"/>
            <a:ext cx="685800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55778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IC = 0.068  |  t-stat = 3.70  |  59.2% of months positive  |  240 monthly periods (2006–2026)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Construction &amp; Backtest Engine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backtest.py — monthly rebalancing with transaction cost model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1828800" cy="27432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2529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CONSTRUCTION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536192"/>
            <a:ext cx="685800" cy="59436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002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Score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97280" y="1609344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1645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composite score at month-end 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7512" y="2130552"/>
            <a:ext cx="0" cy="210312"/>
          </a:xfrm>
          <a:prstGeom prst="line">
            <a:avLst/>
          </a:prstGeom>
          <a:noFill/>
          <a:ln w="12700">
            <a:solidFill>
              <a:srgbClr val="0B7B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340864"/>
            <a:ext cx="685800" cy="59436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40487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Rank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97280" y="24140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4505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30 tickers by composite score (highest = best)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7512" y="2935224"/>
            <a:ext cx="0" cy="210312"/>
          </a:xfrm>
          <a:prstGeom prst="line">
            <a:avLst/>
          </a:prstGeom>
          <a:noFill/>
          <a:ln w="12700">
            <a:solidFill>
              <a:srgbClr val="0B7B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145536"/>
            <a:ext cx="685800" cy="59436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0954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Select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97280" y="3218688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32552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quintile (~6 stocks) → long portfolio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7512" y="3739896"/>
            <a:ext cx="0" cy="210312"/>
          </a:xfrm>
          <a:prstGeom prst="line">
            <a:avLst/>
          </a:prstGeom>
          <a:noFill/>
          <a:ln w="12700">
            <a:solidFill>
              <a:srgbClr val="0B7B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950208"/>
            <a:ext cx="685800" cy="59436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01421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Weight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97280" y="402336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88720" y="40599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Equal-weight within portfolio (1/N)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7512" y="4544568"/>
            <a:ext cx="0" cy="210312"/>
          </a:xfrm>
          <a:prstGeom prst="line">
            <a:avLst/>
          </a:prstGeom>
          <a:noFill/>
          <a:ln w="12700">
            <a:solidFill>
              <a:srgbClr val="0B7B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4754880"/>
            <a:ext cx="685800" cy="59436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81888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TC adjust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97280" y="482803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48646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 20bp × turnover fraction per rebalance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67512" y="5349240"/>
            <a:ext cx="0" cy="210312"/>
          </a:xfrm>
          <a:prstGeom prst="line">
            <a:avLst/>
          </a:prstGeom>
          <a:noFill/>
          <a:ln w="12700">
            <a:solidFill>
              <a:srgbClr val="0B7B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5559552"/>
            <a:ext cx="685800" cy="59436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56235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Return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97280" y="5632704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88720" y="5669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 return at t+1 month-end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35040" y="1508760"/>
            <a:ext cx="5806440" cy="5029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35040" y="1508760"/>
            <a:ext cx="5806440" cy="2011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1527048"/>
            <a:ext cx="5623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backtest.py — portfolio loop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26480" y="1728216"/>
            <a:ext cx="5623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backtest.py — core portfolio loop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run_backtest(panel, score_col, n_long=6, tc_bps=20):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prev_long = []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 d in enumerate(dates[:-1]):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Rank at date 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 = panel[panel['Date']==d]\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.dropna(subset=[score_col])\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.sort_values(score_col, ascending=False)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Top quintile (~6 of 30 stocks)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 = max(3, len(curr) // 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long_t = curr.head(n)['Ticker'].tolist()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Realise return next month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nxt = panel[panel['Date']==dates[i+1]]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long_ret = nxt.set_index('Ticker')\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.reindex(long_t)['Return_1M'].mean()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Transaction cost: 20bp × fraction of portfolio changed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turnover = len(set(long_t) - set(prev_long)) / 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tc = turnover * tc_bps / 10_000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long_net = long_ret - tc   # net of cost return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Long-Short variant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short_t = curr.tail(n)['Ticker'].tolist()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short_ret = nxt.reindex(short_t)['Return_1M'].mean()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ls_net = (long_ret - short_ret) - 2*tc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prev_long = long_t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Results — Real Bloomberg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2007–2026, 228 monthly periods, 20bp transaction costs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1828800" cy="27432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2529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RESULTS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08760"/>
            <a:ext cx="54864" cy="132588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600200"/>
            <a:ext cx="2606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11.26%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29768" y="2171700"/>
            <a:ext cx="260604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Ann. Return — (Long-Only)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2542946"/>
            <a:ext cx="260604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4.13% STI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64408" y="150876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1508760"/>
            <a:ext cx="54864" cy="132588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74136" y="1600200"/>
            <a:ext cx="2606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74136" y="2171700"/>
            <a:ext cx="260604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— (Long-Only)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74136" y="2542946"/>
            <a:ext cx="260604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0.163 STI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08776" y="150876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508760"/>
            <a:ext cx="54864" cy="132588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8504" y="1600200"/>
            <a:ext cx="2606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7.83%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18504" y="2171700"/>
            <a:ext cx="260604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Ann. Alpha — vs STI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18504" y="2542946"/>
            <a:ext cx="260604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53144" y="150876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53144" y="1508760"/>
            <a:ext cx="54864" cy="132588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62872" y="1600200"/>
            <a:ext cx="2606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0.877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262872" y="2171700"/>
            <a:ext cx="260604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Beta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62872" y="2542946"/>
            <a:ext cx="260604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market exposure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017520"/>
          <a:ext cx="11521440" cy="192024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1188720"/>
                <a:gridCol w="1097280"/>
                <a:gridCol w="1097280"/>
                <a:gridCol w="109728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Ann. Return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Ann. Vol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Return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Long-Only IC-Weighted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19.12%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7B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-62.9%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496.8%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Long-Short IC-Weighted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7B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-53.1%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379.5%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Equal-Weight Universe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-54.6%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 Index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-57.6%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320040" y="5120640"/>
            <a:ext cx="115214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5212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 Regression vs STI: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834640" y="5230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(α):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2834640" y="54681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0.65%/mo = 7.83%/yr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029200" y="5230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(β):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029200" y="54681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0.877  (defensively positioned)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223760" y="5230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223760" y="54681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0.582  (58% market-explained)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418320" y="5230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t(α):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9418320" y="54681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significant, p &lt; 0.0001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Performance vs STI Benchmark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outperforms STI in 15 of 20 years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1828800" cy="27432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2529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ANNUAL RETURNS</a:t>
            </a:r>
            <a:endParaRPr lang="en-US" sz="8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508760"/>
          <a:ext cx="11521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320040" y="571500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5760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0120" y="5760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-53.3%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GFC — unavoidable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64408" y="571500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55848" y="5760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904488" y="5760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+134%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recovery year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208776" y="571500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0216" y="5760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848856" y="5760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+7.8% vs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 -11.8% (COVID)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153144" y="571500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83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44584" y="5760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793224" y="5760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+32.7% vs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 +4.1% (rates)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Efficacy — Tercile Return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spread confirms composite score predicts returns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1828800" cy="27432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2529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FACTOR EFFICACY</a:t>
            </a:r>
            <a:endParaRPr lang="en-US" sz="8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508760"/>
          <a:ext cx="5943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349240"/>
          <a:ext cx="5943600" cy="123444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371600"/>
                <a:gridCol w="1371600"/>
                <a:gridCol w="1371600"/>
              </a:tblGrid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Tercile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Mean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Ann. Return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Ann. Sharpe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 vs T1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— Bottom Third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— Middle Third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+2.67%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— Top Third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7B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+4.54%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92240" y="1508760"/>
            <a:ext cx="534924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67512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583680" y="2185416"/>
            <a:ext cx="54864" cy="731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720840" y="21854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ordering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720840" y="247802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&lt; T2 &lt; T3 in both return and Sharpe. Every step up in composite score corresponds to higher returns. This is the signature of a real factor.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583680" y="3072384"/>
            <a:ext cx="54864" cy="73152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20840" y="30723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4.54% annual spread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720840" y="33649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T3-T1 spread of 4.54% per year is the 'factor alpha'. After adjusting for market beta (~0.88), this represents genuine stock-selection skill.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583680" y="3959352"/>
            <a:ext cx="54864" cy="731520"/>
          </a:xfrm>
          <a:prstGeom prst="rect">
            <a:avLst/>
          </a:prstGeom>
          <a:solidFill>
            <a:srgbClr val="E8A830"/>
          </a:solidFill>
          <a:ln w="12700">
            <a:solidFill>
              <a:srgbClr val="E8A83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20840" y="39593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still positive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720840" y="4251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tercile earns 2.93% annually — confirming long-only investing. The factor sorts relative winners from relative losers within a rising market.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583680" y="4846320"/>
            <a:ext cx="54864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20840" y="4846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stocks limitation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720840" y="51389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30 STI stocks, each tercile has ~10 stocks. Quintile sorts (6/group) would be statistically noisy — terciles are appropriate here.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583680" y="5733288"/>
            <a:ext cx="54864" cy="731520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720840" y="57332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720840" y="60258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SGMCNL midcap (~50 stocks) would support quintiles and strengthen these results. Priority enhancement after real Bloomberg pull.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Regime Conditioning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behaviour changes meaningfully across market regimes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1828800" cy="27432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2529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REGIME ANALYSIS</a:t>
            </a:r>
            <a:endParaRPr lang="en-US" sz="8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508760"/>
          <a:ext cx="65836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040880" y="1508760"/>
            <a:ext cx="4800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040880" y="1508760"/>
            <a:ext cx="4800600" cy="32004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0" y="15544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Value Defensive in SGX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32320" y="19202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 earns Sharpe 0.71 in risk-off regimes vs 0.30 in risk-on. This is counter-intuitive vs US momentum strategies but logical for SGX: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Value/yield factors pick defensive REITs and banks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These hold up better when growth disappoints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SGX's high-dividend culture is more defensive than growth-oriented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Result: strategy provides downside protection in stress periods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040880" y="3977640"/>
            <a:ext cx="4800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040880" y="3977640"/>
            <a:ext cx="4800600" cy="320040"/>
          </a:xfrm>
          <a:prstGeom prst="rect">
            <a:avLst/>
          </a:prstGeom>
          <a:solidFill>
            <a:srgbClr val="E8A830"/>
          </a:solidFill>
          <a:ln w="12700">
            <a:solidFill>
              <a:srgbClr val="E8A83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0" y="40233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PMI Regime: Small Effect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32320" y="438912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expansion (&gt;50) yields slightly higher Sharpe (0.56 vs 0.47). The effect is small, suggesting the composite is relatively regime-agnostic for local growth cycles. The more powerful conditioning variable is global risk appetite (VIX/SPX).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thesis extension: test macro regime portfolios where factor weights shift based on SORA change direction and SG yield spread.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" y="5394960"/>
            <a:ext cx="658368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548640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conditioning is the unique thesis contribution vs standard factor studies on SGX. The Temasek macro experience informs this — factor exposures are conditional on rate cycle and risk regime.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Changes Required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update in each file — priority order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1828800" cy="27432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2529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CODE UPDATES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536192"/>
            <a:ext cx="374904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36192"/>
            <a:ext cx="374904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819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pipeline.py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63240" y="15819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9768" y="2084832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build_synthetic_panel() with xlsm reader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" y="2642616"/>
            <a:ext cx="54864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06040"/>
            <a:ext cx="3410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read_block() function to parse BDH horizontal layout from xlsm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337560"/>
            <a:ext cx="54864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00984"/>
            <a:ext cx="3410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read_fund_block() for Fundamentals sheet (quarterly → monthly via merge_asof)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32504"/>
            <a:ext cx="54864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95928"/>
            <a:ext cx="3410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build_synthetic_panel() call — use load_bloomberg_stock_panel() instead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9768" y="4727448"/>
            <a:ext cx="54864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690872"/>
            <a:ext cx="3410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DATA_DIR to folder containing bloombergapi4_fixed.xlsm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9768" y="5422392"/>
            <a:ext cx="54864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385816"/>
            <a:ext cx="3410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wb = load_workbook('bloombergapi4_fixed.xlsm', data_only=True, keep_vba=True)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51960" y="1536192"/>
            <a:ext cx="374904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51960" y="1536192"/>
            <a:ext cx="37490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15819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factor_model.py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95160" y="15819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361688" y="2084832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composite weights; remove negative-IC factors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61688" y="2642616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2606040"/>
            <a:ext cx="3410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MOM_3_1 from FACTOR_SPECS (negative IC on both synthetic and real)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61688" y="3337560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3300984"/>
            <a:ext cx="3410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IC-weighted composite: weights ∝ t-stat, only positive-IC factors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61688" y="4032504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3995928"/>
            <a:ext cx="3410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quintile_returns() from q=5 to q=3 (terciles) — 30 stocks too few for quintiles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61688" y="4727448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4690872"/>
            <a:ext cx="3410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Winsorise at 5/95 percentile instead of 1/99 (more aggressive for small n)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61688" y="5422392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0" y="5385816"/>
            <a:ext cx="3410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Fama-MacBeth regression block for factor risk premia t-stats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183880" y="1536192"/>
            <a:ext cx="374904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183880" y="1536192"/>
            <a:ext cx="37490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75320" y="15819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backtest.py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927080" y="15819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293608" y="2084832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TC; update benchmark; add sector-neutral option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93608" y="2642616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0" y="2606040"/>
            <a:ext cx="3410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TC_BPS from 10 to 20 (SGX STI bid-ask reality)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293608" y="3337560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0" y="3300984"/>
            <a:ext cx="3410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BenchmarkReturn from equal-weight universe to STI index (from real_benchmark.csv)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293608" y="4032504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12480" y="3995928"/>
            <a:ext cx="3410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VIX circuit breaker: if VIX &gt; 35, reduce position to 50% (risk management)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293608" y="4727448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12480" y="4690872"/>
            <a:ext cx="3410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perf_summary() to print CAPM alpha/beta via scipy stats.linregress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293608" y="5422392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0" y="5385816"/>
            <a:ext cx="3410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walk_forward_validation() to use Composite_IC not Composite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of constraints and enhancement roadmap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1828800" cy="27432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2529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LIMITATIONS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56692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08760"/>
            <a:ext cx="54864" cy="15727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 Size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196596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STI stocks is too small for quintile sorts (5-6 per bin). Adding SGMCNL midcaps (target: 80+ stocks) is the single highest-impact enhancement. Quintiles become statistically meaningful above ~60 stocks.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3218688"/>
            <a:ext cx="56692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218688"/>
            <a:ext cx="54864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33101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Survivorship Bias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" y="3675888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 constituents as of 2024 are used throughout history. Stocks delisted 2001-2024 are excluded. This overstates historical returns. Proper point-in-time universe construction requires historical constituent data from Bloomberg.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4928616"/>
            <a:ext cx="56692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4928616"/>
            <a:ext cx="54864" cy="1572768"/>
          </a:xfrm>
          <a:prstGeom prst="rect">
            <a:avLst/>
          </a:prstGeom>
          <a:solidFill>
            <a:srgbClr val="E8A830"/>
          </a:solidFill>
          <a:ln w="12700">
            <a:solidFill>
              <a:srgbClr val="E8A8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50200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P/B and ROE Data Gaps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" y="5385816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returned #N/A for P/B in 21% of observations — REITs and banks use different accounting structures. CapIQ EV/EBITDA + FCF yield would fill this quality factor gap and improve composite.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72200" y="1508760"/>
            <a:ext cx="56692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508760"/>
            <a:ext cx="54864" cy="1572768"/>
          </a:xfrm>
          <a:prstGeom prst="rect">
            <a:avLst/>
          </a:prstGeom>
          <a:solidFill>
            <a:srgbClr val="E8A830"/>
          </a:solidFill>
          <a:ln w="12700">
            <a:solidFill>
              <a:srgbClr val="E8A8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6792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Concentration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36792" y="196596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 is heavily real estate (REITs) and financials. Value factors partially pick sector tilts rather than stock-specific signals. Sector-neutral z-scoring (demean within sector) would isolate purer stock selection.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72200" y="3218688"/>
            <a:ext cx="56692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3218688"/>
            <a:ext cx="54864" cy="1572768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33101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Cost Model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36792" y="3675888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20bp one-way is reasonable for STI large-caps but does not account for market impact on larger positions. With realistic AUM of S$10M+, market impact adds 5-15bp for mid-caps. Slippage model warranted.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72200" y="4928616"/>
            <a:ext cx="56692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4928616"/>
            <a:ext cx="54864" cy="1572768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50200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Fundamentals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36792" y="5385816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fundamentals are forward-filled from report date to signal date. This correctly avoids look-ahead bias. However, CapIQ CIQSERIES with exact point-in-time date would be more rigorous.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5486400" cy="0"/>
          </a:xfrm>
          <a:prstGeom prst="line">
            <a:avLst/>
          </a:prstGeom>
          <a:noFill/>
          <a:ln w="12700">
            <a:solidFill>
              <a:srgbClr val="0B7B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5577840" cy="1719072"/>
          </a:xfrm>
          <a:prstGeom prst="rect">
            <a:avLst/>
          </a:prstGeom>
          <a:solidFill>
            <a:srgbClr val="1B3A5C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Value rules in SGX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B/M (t=3.14), Inv PE (t=3.05), Div Yield (t=2.81) are statistically significant. SGX is a value market driven by REIT and banking fundamentals.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880360"/>
            <a:ext cx="5577840" cy="1719072"/>
          </a:xfrm>
          <a:prstGeom prst="rect">
            <a:avLst/>
          </a:prstGeom>
          <a:solidFill>
            <a:srgbClr val="1B3A5C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718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IC-weighted composite works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355848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IC t-stat of 3.70 exceeds any individual factor. Combining complementary signals through IC-weighting is the right approach for a small universe.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4754880"/>
            <a:ext cx="5577840" cy="1719072"/>
          </a:xfrm>
          <a:prstGeom prst="rect">
            <a:avLst/>
          </a:prstGeom>
          <a:solidFill>
            <a:srgbClr val="1B3A5C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8463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7.83% annual alpha confirmed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230368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 regression vs STI yields α=7.83%/yr (p&lt;0.0001, β=0.88). The strategy earns genuine excess returns beyond market exposure.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005840"/>
            <a:ext cx="5577840" cy="1719072"/>
          </a:xfrm>
          <a:prstGeom prst="rect">
            <a:avLst/>
          </a:prstGeom>
          <a:solidFill>
            <a:srgbClr val="1B3A5C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0972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Risk-off is better regime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1481328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0.71 in risk-off vs 0.30 in risk-on. Value/yield composite is defensively positioned — structurally protects in drawdowns.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2880360"/>
            <a:ext cx="5577840" cy="1719072"/>
          </a:xfrm>
          <a:prstGeom prst="rect">
            <a:avLst/>
          </a:prstGeom>
          <a:solidFill>
            <a:srgbClr val="1B3A5C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29718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Tercile spread is monotonic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3355848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T1/T2/T3 returns: 2.9%/5.6%/7.5%. Clean ordering confirms composite score predictive power. No look-ahead bias — Fwd_Return_1M correctly shifted.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4754880"/>
            <a:ext cx="5577840" cy="1719072"/>
          </a:xfrm>
          <a:prstGeom prst="rect">
            <a:avLst/>
          </a:prstGeom>
          <a:solidFill>
            <a:srgbClr val="1B3A5C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48463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Infrastructure is production-ready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5230368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pipeline.py → factor_model.py → backtest.py pipeline is extensible. Plugging in real Bloomberg CSVs, adding SGMCNL, or incorporating CapIQ requires minimal code changes.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0B7B8B"/>
          </a:solidFill>
          <a:ln w="12700">
            <a:solidFill>
              <a:srgbClr val="0B7B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NTU EEE Final Year Project  |  SGX Multi-Factor Strategy  |  Data: Bloomberg Terminal + CEIC  |  Analysis: Python 3.12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SGX Multi-Factor Systematic Trading Strategy — NTU FYP</dc:title>
  <dc:subject>PptxGenJS Presentation</dc:subject>
  <dc:creator>PptxGenJS</dc:creator>
  <cp:lastModifiedBy>PptxGenJS</cp:lastModifiedBy>
  <cp:revision>1</cp:revision>
  <dcterms:created xsi:type="dcterms:W3CDTF">2026-04-10T03:26:29Z</dcterms:created>
  <dcterms:modified xsi:type="dcterms:W3CDTF">2026-04-10T03:26:29Z</dcterms:modified>
</cp:coreProperties>
</file>